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8" r:id="rId7"/>
    <p:sldId id="259" r:id="rId8"/>
    <p:sldId id="261" r:id="rId9"/>
  </p:sldIdLst>
  <p:sldSz cx="12192000" cy="6858000"/>
  <p:notesSz cx="6858000" cy="9144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EB Garamond 08" panose="02020502060206020404" pitchFamily="18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D"/>
    <a:srgbClr val="FFF8E7"/>
    <a:srgbClr val="2D2420"/>
    <a:srgbClr val="175533"/>
    <a:srgbClr val="007E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291B62-6662-4A62-A54D-B737F5698D87}" v="3" dt="2026-10-24T17:44:36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Tufano" userId="ec3d12a3-37d2-47a4-8e2d-874a1288a7d3" providerId="ADAL" clId="{960DC437-9B26-4BFF-91D1-9B46A0A0DC58}"/>
    <pc:docChg chg="modSld">
      <pc:chgData name="Antonio Tufano" userId="ec3d12a3-37d2-47a4-8e2d-874a1288a7d3" providerId="ADAL" clId="{960DC437-9B26-4BFF-91D1-9B46A0A0DC58}" dt="2026-10-24T17:44:36.556" v="0"/>
      <pc:docMkLst>
        <pc:docMk/>
      </pc:docMkLst>
      <pc:sldChg chg="modSp">
        <pc:chgData name="Antonio Tufano" userId="ec3d12a3-37d2-47a4-8e2d-874a1288a7d3" providerId="ADAL" clId="{960DC437-9B26-4BFF-91D1-9B46A0A0DC58}" dt="2026-10-24T17:44:36.556" v="0"/>
        <pc:sldMkLst>
          <pc:docMk/>
          <pc:sldMk cId="0" sldId="261"/>
        </pc:sldMkLst>
        <pc:spChg chg="mod">
          <ac:chgData name="Antonio Tufano" userId="ec3d12a3-37d2-47a4-8e2d-874a1288a7d3" providerId="ADAL" clId="{960DC437-9B26-4BFF-91D1-9B46A0A0DC58}" dt="2026-10-24T17:44:36.556" v="0"/>
          <ac:spMkLst>
            <pc:docMk/>
            <pc:sldMk cId="0" sldId="261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5E601-081E-4ABF-990F-1A9929C4FED9}" type="datetimeFigureOut">
              <a:rPr lang="it-IT" smtClean="0"/>
              <a:t>24/10/2026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D0026-9281-46EB-9602-BFD45DEF10E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3153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D0026-9281-46EB-9602-BFD45DEF1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9562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bitcrusherteam@gmail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599" y="661986"/>
            <a:ext cx="2910349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2400" b="0" i="0" u="none" dirty="0">
                <a:solidFill>
                  <a:srgbClr val="10B981"/>
                </a:solidFill>
                <a:latin typeface="Consolas" panose="020B0609020204030204" pitchFamily="49" charset="0"/>
              </a:rPr>
              <a:t>26 Ottobre 2026</a:t>
            </a:r>
            <a:endParaRPr sz="2400" b="0" i="0" u="none" dirty="0">
              <a:solidFill>
                <a:srgbClr val="10B98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2166937"/>
            <a:ext cx="6538452" cy="873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it-IT" sz="6600" b="1" i="0" u="none" dirty="0">
                <a:solidFill>
                  <a:srgbClr val="F5F5F5"/>
                </a:solidFill>
                <a:latin typeface="EB Garamond 08" panose="02020502060206020404" pitchFamily="18" charset="0"/>
              </a:rPr>
              <a:t>Diario di Bordo I</a:t>
            </a:r>
            <a:endParaRPr sz="6600" b="1" i="0" u="none" dirty="0">
              <a:solidFill>
                <a:srgbClr val="F5F5F5"/>
              </a:solidFill>
              <a:latin typeface="EB Garamond 08" panose="020205020602060204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3109675"/>
            <a:ext cx="339195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0" i="0" u="none" dirty="0">
                <a:solidFill>
                  <a:srgbClr val="A3A3A3"/>
                </a:solidFill>
                <a:latin typeface="Consolas" panose="020B0609020204030204" pitchFamily="49" charset="0"/>
              </a:rPr>
              <a:t>Ingegneria del Software</a:t>
            </a:r>
            <a:endParaRPr sz="2100" b="0" i="0" u="none" dirty="0">
              <a:solidFill>
                <a:srgbClr val="A3A3A3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599" y="5909090"/>
            <a:ext cx="44505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10B981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9" y="6118640"/>
            <a:ext cx="186910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5F5F5"/>
                </a:solidFill>
                <a:latin typeface="Consolas" panose="020B0609020204030204" pitchFamily="49" charset="0"/>
              </a:rPr>
              <a:t>Bit Crusher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2DD68F8B-1398-4388-D53A-5917C83CF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326" y="204788"/>
            <a:ext cx="2124074" cy="2124074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0DFECF31-71BA-AD8B-E7BD-B8936DD14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4730" y="5758189"/>
            <a:ext cx="2187670" cy="980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95500"/>
            <a:ext cx="266700" cy="323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91038"/>
            <a:ext cx="2667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86782"/>
            <a:ext cx="2667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9097" y="609600"/>
            <a:ext cx="4728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Consolas" panose="020B0609020204030204" pitchFamily="49" charset="0"/>
              </a:rPr>
              <a:t>//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62025"/>
            <a:ext cx="3295774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Stato di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Avanzamento</a:t>
            </a:r>
            <a:endParaRPr sz="3000" b="1" i="0" u="none" dirty="0">
              <a:solidFill>
                <a:srgbClr val="171717"/>
              </a:solidFill>
              <a:latin typeface="EB Garamond 08" panose="020205020602060204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4900" y="2066925"/>
            <a:ext cx="592469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Decisione nome, logo e recapito del gruppo</a:t>
            </a:r>
            <a:endParaRPr sz="20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04900" y="2562463"/>
            <a:ext cx="7990970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it-IT" sz="20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Scelta dei canali di comunicazione: </a:t>
            </a:r>
            <a:r>
              <a:rPr lang="it-IT" dirty="0">
                <a:solidFill>
                  <a:srgbClr val="525252"/>
                </a:solidFill>
                <a:latin typeface="Consolas" panose="020B0609020204030204" pitchFamily="49" charset="0"/>
              </a:rPr>
              <a:t>Whatsapp, </a:t>
            </a:r>
            <a:r>
              <a:rPr lang="it-IT" dirty="0" err="1">
                <a:solidFill>
                  <a:srgbClr val="525252"/>
                </a:solidFill>
                <a:latin typeface="Consolas" panose="020B0609020204030204" pitchFamily="49" charset="0"/>
              </a:rPr>
              <a:t>Discord</a:t>
            </a:r>
            <a:r>
              <a:rPr lang="it-IT" dirty="0">
                <a:solidFill>
                  <a:srgbClr val="525252"/>
                </a:solidFill>
                <a:latin typeface="Consolas" panose="020B0609020204030204" pitchFamily="49" charset="0"/>
              </a:rPr>
              <a:t>, Meet</a:t>
            </a:r>
          </a:p>
          <a:p>
            <a:pPr algn="l"/>
            <a:r>
              <a:rPr lang="it-IT" sz="20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 </a:t>
            </a:r>
            <a:endParaRPr sz="20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F09C3C0-F534-5DC3-FD65-B22E092E0003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124BCC8-93D4-D7E8-7C92-063DCA218C6F}"/>
              </a:ext>
            </a:extLst>
          </p:cNvPr>
          <p:cNvSpPr txBox="1"/>
          <p:nvPr/>
        </p:nvSpPr>
        <p:spPr>
          <a:xfrm>
            <a:off x="609600" y="5707648"/>
            <a:ext cx="786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5533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90DAF82-DC87-58FE-9CDB-1EE1951B6747}"/>
              </a:ext>
            </a:extLst>
          </p:cNvPr>
          <p:cNvSpPr txBox="1"/>
          <p:nvPr/>
        </p:nvSpPr>
        <p:spPr>
          <a:xfrm>
            <a:off x="609600" y="60175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dirty="0">
                <a:latin typeface="Consolas" panose="020B0609020204030204" pitchFamily="49" charset="0"/>
              </a:rPr>
              <a:t>Bit </a:t>
            </a:r>
            <a:r>
              <a:rPr lang="it-IT" sz="2400" b="1" i="0" u="none" dirty="0" err="1">
                <a:latin typeface="Consolas" panose="020B0609020204030204" pitchFamily="49" charset="0"/>
              </a:rPr>
              <a:t>Crusher</a:t>
            </a:r>
            <a:endParaRPr lang="it-IT" sz="2400" b="1" i="0" u="none" dirty="0">
              <a:latin typeface="Consolas" panose="020B0609020204030204" pitchFamily="49" charset="0"/>
            </a:endParaRPr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4975564B-2A6D-4096-8C25-2AADA05A7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768" y="5695759"/>
            <a:ext cx="1838632" cy="823998"/>
          </a:xfrm>
          <a:prstGeom prst="rect">
            <a:avLst/>
          </a:prstGeom>
        </p:spPr>
      </p:pic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72083BE-FD0F-6A41-4E67-92DC106BAD09}"/>
              </a:ext>
            </a:extLst>
          </p:cNvPr>
          <p:cNvSpPr txBox="1"/>
          <p:nvPr/>
        </p:nvSpPr>
        <p:spPr>
          <a:xfrm>
            <a:off x="1002888" y="3028265"/>
            <a:ext cx="1118911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100" b="1" dirty="0">
                <a:latin typeface="Consolas" panose="020B0609020204030204" pitchFamily="49" charset="0"/>
              </a:rPr>
              <a:t>Scelta strumenti documentazione e creazione layout: </a:t>
            </a:r>
            <a:r>
              <a:rPr lang="it-IT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Documenti LaTeX, PPTX</a:t>
            </a:r>
          </a:p>
        </p:txBody>
      </p:sp>
      <p:pic>
        <p:nvPicPr>
          <p:cNvPr id="25" name="Picture 2" descr="image.png">
            <a:extLst>
              <a:ext uri="{FF2B5EF4-FFF2-40B4-BE49-F238E27FC236}">
                <a16:creationId xmlns:a16="http://schemas.microsoft.com/office/drawing/2014/main" id="{17A58D5C-96CD-03CE-AFF2-CA02C3FE6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65094"/>
            <a:ext cx="266700" cy="323850"/>
          </a:xfrm>
          <a:prstGeom prst="rect">
            <a:avLst/>
          </a:prstGeom>
        </p:spPr>
      </p:pic>
      <p:sp>
        <p:nvSpPr>
          <p:cNvPr id="29" name="TextBox 6">
            <a:extLst>
              <a:ext uri="{FF2B5EF4-FFF2-40B4-BE49-F238E27FC236}">
                <a16:creationId xmlns:a16="http://schemas.microsoft.com/office/drawing/2014/main" id="{C80D6AB4-FE66-EB63-646E-13AC75410EE1}"/>
              </a:ext>
            </a:extLst>
          </p:cNvPr>
          <p:cNvSpPr txBox="1"/>
          <p:nvPr/>
        </p:nvSpPr>
        <p:spPr>
          <a:xfrm>
            <a:off x="1104901" y="3565779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t-IT" sz="20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Creazione e organizzazione del </a:t>
            </a:r>
            <a:r>
              <a:rPr lang="it-IT" sz="2000" b="1" dirty="0">
                <a:solidFill>
                  <a:srgbClr val="171717"/>
                </a:solidFill>
                <a:latin typeface="Consolas" panose="020B0609020204030204" pitchFamily="49" charset="0"/>
              </a:rPr>
              <a:t>repository GitHub</a:t>
            </a:r>
            <a:endParaRPr i="0" u="none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3" name="Picture 2" descr="image.png">
            <a:extLst>
              <a:ext uri="{FF2B5EF4-FFF2-40B4-BE49-F238E27FC236}">
                <a16:creationId xmlns:a16="http://schemas.microsoft.com/office/drawing/2014/main" id="{EF3159AA-8AB8-A7BB-D237-EDF4174FE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060838"/>
            <a:ext cx="266700" cy="323850"/>
          </a:xfrm>
          <a:prstGeom prst="rect">
            <a:avLst/>
          </a:prstGeom>
        </p:spPr>
      </p:pic>
      <p:sp>
        <p:nvSpPr>
          <p:cNvPr id="35" name="TextBox 6">
            <a:extLst>
              <a:ext uri="{FF2B5EF4-FFF2-40B4-BE49-F238E27FC236}">
                <a16:creationId xmlns:a16="http://schemas.microsoft.com/office/drawing/2014/main" id="{3E849751-42B8-4166-A3EC-75DC6E0B7251}"/>
              </a:ext>
            </a:extLst>
          </p:cNvPr>
          <p:cNvSpPr txBox="1"/>
          <p:nvPr/>
        </p:nvSpPr>
        <p:spPr>
          <a:xfrm>
            <a:off x="1104900" y="4061523"/>
            <a:ext cx="660359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t-IT" sz="2000" b="1" dirty="0">
                <a:solidFill>
                  <a:srgbClr val="171717"/>
                </a:solidFill>
                <a:latin typeface="Consolas" panose="020B0609020204030204" pitchFamily="49" charset="0"/>
              </a:rPr>
              <a:t>Discussione e scelta capitolati</a:t>
            </a:r>
            <a:endParaRPr sz="2000" i="0" u="none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pic>
        <p:nvPicPr>
          <p:cNvPr id="37" name="Picture 2" descr="image.png">
            <a:extLst>
              <a:ext uri="{FF2B5EF4-FFF2-40B4-BE49-F238E27FC236}">
                <a16:creationId xmlns:a16="http://schemas.microsoft.com/office/drawing/2014/main" id="{2E2B88F1-FD53-1A1A-D617-3D9908BCB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57237"/>
            <a:ext cx="266700" cy="323850"/>
          </a:xfrm>
          <a:prstGeom prst="rect">
            <a:avLst/>
          </a:prstGeom>
        </p:spPr>
      </p:pic>
      <p:sp>
        <p:nvSpPr>
          <p:cNvPr id="39" name="TextBox 6">
            <a:extLst>
              <a:ext uri="{FF2B5EF4-FFF2-40B4-BE49-F238E27FC236}">
                <a16:creationId xmlns:a16="http://schemas.microsoft.com/office/drawing/2014/main" id="{E5CA9634-CE41-BD20-B18D-F351519EA222}"/>
              </a:ext>
            </a:extLst>
          </p:cNvPr>
          <p:cNvSpPr txBox="1"/>
          <p:nvPr/>
        </p:nvSpPr>
        <p:spPr>
          <a:xfrm>
            <a:off x="1104899" y="4557237"/>
            <a:ext cx="593499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it-IT" sz="2000" b="1" dirty="0">
                <a:solidFill>
                  <a:srgbClr val="171717"/>
                </a:solidFill>
                <a:latin typeface="Consolas" panose="020B0609020204030204" pitchFamily="49" charset="0"/>
              </a:rPr>
              <a:t>Contatto con le aziende proponenti</a:t>
            </a:r>
            <a:endParaRPr sz="2000" i="0" u="none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43100"/>
            <a:ext cx="304800" cy="323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76184"/>
            <a:ext cx="3048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83899"/>
            <a:ext cx="3048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609600"/>
            <a:ext cx="4728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Consolas" panose="020B0609020204030204" pitchFamily="49" charset="0"/>
              </a:rPr>
              <a:t>//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81075"/>
            <a:ext cx="4841069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Obiettivi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Futuri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a Breve Termine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43785"/>
            <a:ext cx="501419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Riunioni con le aziende proponenti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2576869"/>
            <a:ext cx="4424288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Documentazione per candidatura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" y="2957184"/>
            <a:ext cx="8308365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Dichiarazione Impegni, Valutazione Capitolati, Lettera di Presentazione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3584584"/>
            <a:ext cx="3981859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Sviluppo del Way of Working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43000" y="3964899"/>
            <a:ext cx="8074326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Confronto sul </a:t>
            </a:r>
            <a:r>
              <a:rPr lang="it-IT" sz="1650" b="0" i="0" u="none" dirty="0" err="1">
                <a:solidFill>
                  <a:srgbClr val="525252"/>
                </a:solidFill>
                <a:latin typeface="Consolas" panose="020B0609020204030204" pitchFamily="49" charset="0"/>
              </a:rPr>
              <a:t>trunken-based</a:t>
            </a: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 </a:t>
            </a:r>
            <a:r>
              <a:rPr lang="it-IT" sz="1650" b="0" i="0" u="none" dirty="0" err="1">
                <a:solidFill>
                  <a:srgbClr val="525252"/>
                </a:solidFill>
                <a:latin typeface="Consolas" panose="020B0609020204030204" pitchFamily="49" charset="0"/>
              </a:rPr>
              <a:t>development</a:t>
            </a: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 ed istituzione di convenzioni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7459626-C189-1840-3650-89AD86D62962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F94A5F0-1AD4-DE7B-46DC-A767BDCAF625}"/>
              </a:ext>
            </a:extLst>
          </p:cNvPr>
          <p:cNvSpPr txBox="1"/>
          <p:nvPr/>
        </p:nvSpPr>
        <p:spPr>
          <a:xfrm>
            <a:off x="609600" y="5707648"/>
            <a:ext cx="786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5533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0E6A184-41ED-2EA1-E0D4-105CA18BDAC2}"/>
              </a:ext>
            </a:extLst>
          </p:cNvPr>
          <p:cNvSpPr txBox="1"/>
          <p:nvPr/>
        </p:nvSpPr>
        <p:spPr>
          <a:xfrm>
            <a:off x="609600" y="60175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dirty="0">
                <a:latin typeface="Consolas" panose="020B0609020204030204" pitchFamily="49" charset="0"/>
              </a:rPr>
              <a:t>Bit </a:t>
            </a:r>
            <a:r>
              <a:rPr lang="it-IT" sz="2400" b="1" i="0" u="none" dirty="0" err="1">
                <a:latin typeface="Consolas" panose="020B0609020204030204" pitchFamily="49" charset="0"/>
              </a:rPr>
              <a:t>Crusher</a:t>
            </a:r>
            <a:endParaRPr lang="it-IT" sz="2400" b="1" i="0" u="none" dirty="0">
              <a:latin typeface="Consolas" panose="020B0609020204030204" pitchFamily="49" charset="0"/>
            </a:endParaRP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2836677A-AA8B-E4D8-8EFD-1836330B0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768" y="5695759"/>
            <a:ext cx="1838632" cy="823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43100"/>
            <a:ext cx="304800" cy="3238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50815"/>
            <a:ext cx="30480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47288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0F172A"/>
                </a:solidFill>
                <a:latin typeface="Consolas" panose="020B0609020204030204" pitchFamily="49" charset="0"/>
              </a:rPr>
              <a:t>//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81075"/>
            <a:ext cx="490839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Difficoltà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Incontrate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nel</a:t>
            </a:r>
            <a:r>
              <a:rPr sz="3000" b="1" i="0" u="none" dirty="0">
                <a:solidFill>
                  <a:srgbClr val="171717"/>
                </a:solidFill>
                <a:latin typeface="EB Garamond 08" panose="02020502060206020404" pitchFamily="18" charset="0"/>
              </a:rPr>
              <a:t> </a:t>
            </a:r>
            <a:r>
              <a:rPr sz="3000" b="1" i="0" u="none" dirty="0" err="1">
                <a:solidFill>
                  <a:srgbClr val="171717"/>
                </a:solidFill>
                <a:latin typeface="EB Garamond 08" panose="02020502060206020404" pitchFamily="18" charset="0"/>
              </a:rPr>
              <a:t>Periodo</a:t>
            </a:r>
            <a:endParaRPr sz="3000" b="1" i="0" u="none" dirty="0">
              <a:solidFill>
                <a:srgbClr val="171717"/>
              </a:solidFill>
              <a:latin typeface="EB Garamond 08" panose="020205020602060204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3000" y="1943785"/>
            <a:ext cx="457176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dirty="0">
                <a:solidFill>
                  <a:srgbClr val="171717"/>
                </a:solidFill>
                <a:latin typeface="Consolas" panose="020B0609020204030204" pitchFamily="49" charset="0"/>
              </a:rPr>
              <a:t>Analisi e scelta</a:t>
            </a:r>
            <a:r>
              <a:rPr lang="it-IT"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 dei capitolati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324100"/>
            <a:ext cx="9010480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Requisiti ambigui e allineamento tra le preferenze dei vari membri del gruppo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3000" y="2951500"/>
            <a:ext cx="4719241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it-IT" sz="2100" b="1" i="0" u="none" dirty="0">
                <a:solidFill>
                  <a:srgbClr val="171717"/>
                </a:solidFill>
                <a:latin typeface="Consolas" panose="020B0609020204030204" pitchFamily="49" charset="0"/>
              </a:rPr>
              <a:t>Creazione documentazione interna</a:t>
            </a:r>
            <a:endParaRPr sz="2100" b="1" i="0" u="none" dirty="0">
              <a:solidFill>
                <a:srgbClr val="171717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3331815"/>
            <a:ext cx="8542403" cy="2756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it-IT" sz="1650" b="0" i="0" u="none" dirty="0">
                <a:solidFill>
                  <a:srgbClr val="525252"/>
                </a:solidFill>
                <a:latin typeface="Consolas" panose="020B0609020204030204" pitchFamily="49" charset="0"/>
              </a:rPr>
              <a:t>Difficoltà nel trovare uno standard adeguato per la stesura dei documenti</a:t>
            </a:r>
            <a:endParaRPr sz="1650" b="0" i="0" u="none" dirty="0">
              <a:solidFill>
                <a:srgbClr val="525252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C3174E1-ACEC-4F73-74AB-E89598D926EB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311F9C7-8853-F7C3-FCDA-99664DAFDE06}"/>
              </a:ext>
            </a:extLst>
          </p:cNvPr>
          <p:cNvSpPr txBox="1"/>
          <p:nvPr/>
        </p:nvSpPr>
        <p:spPr>
          <a:xfrm>
            <a:off x="609600" y="5707648"/>
            <a:ext cx="7865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u="none" dirty="0">
                <a:solidFill>
                  <a:srgbClr val="175533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6175216-8AE9-3772-45A5-4DBC1268AEFA}"/>
              </a:ext>
            </a:extLst>
          </p:cNvPr>
          <p:cNvSpPr txBox="1"/>
          <p:nvPr/>
        </p:nvSpPr>
        <p:spPr>
          <a:xfrm>
            <a:off x="609600" y="60175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400" b="1" i="0" u="none" dirty="0">
                <a:latin typeface="Consolas" panose="020B0609020204030204" pitchFamily="49" charset="0"/>
              </a:rPr>
              <a:t>Bit </a:t>
            </a:r>
            <a:r>
              <a:rPr lang="it-IT" sz="2400" b="1" i="0" u="none" dirty="0" err="1">
                <a:latin typeface="Consolas" panose="020B0609020204030204" pitchFamily="49" charset="0"/>
              </a:rPr>
              <a:t>Crusher</a:t>
            </a:r>
            <a:endParaRPr lang="it-IT" sz="2400" b="1" i="0" u="none" dirty="0">
              <a:latin typeface="Consolas" panose="020B0609020204030204" pitchFamily="49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F81C360-5752-BEF9-07B1-C2DCD554D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768" y="5695759"/>
            <a:ext cx="1838632" cy="823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D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48596" y="3300412"/>
            <a:ext cx="4494820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it-IT" sz="4800" b="1" i="0" u="none" dirty="0">
                <a:solidFill>
                  <a:srgbClr val="F5F5F5"/>
                </a:solidFill>
                <a:latin typeface="EB Garamond 08" panose="02020502060206020404" pitchFamily="18" charset="0"/>
              </a:rPr>
              <a:t>Fine Presentazione</a:t>
            </a:r>
            <a:endParaRPr sz="4800" b="1" i="0" u="none" dirty="0">
              <a:solidFill>
                <a:srgbClr val="F5F5F5"/>
              </a:solidFill>
              <a:latin typeface="EB Garamond 08" panose="02020502060206020404" pitchFamily="18" charset="0"/>
            </a:endParaRPr>
          </a:p>
        </p:txBody>
      </p:sp>
      <p:sp>
        <p:nvSpPr>
          <p:cNvPr id="4" name="TextBox 3">
            <a:hlinkClick r:id="rId2"/>
          </p:cNvPr>
          <p:cNvSpPr txBox="1"/>
          <p:nvPr/>
        </p:nvSpPr>
        <p:spPr>
          <a:xfrm>
            <a:off x="4826421" y="4224337"/>
            <a:ext cx="253915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10B981"/>
                </a:solidFill>
                <a:latin typeface="Consolas" panose="020B0609020204030204" pitchFamily="49" charset="0"/>
              </a:rPr>
              <a:t>bitcrusherteam@gmail.com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DEFEF89E-AF97-7E8B-1197-ACC4BDF80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315" y="736113"/>
            <a:ext cx="2733368" cy="2733368"/>
          </a:xfrm>
          <a:prstGeom prst="rect">
            <a:avLst/>
          </a:prstGeom>
        </p:spPr>
      </p:pic>
      <p:sp>
        <p:nvSpPr>
          <p:cNvPr id="37" name="Rectangle 1">
            <a:extLst>
              <a:ext uri="{FF2B5EF4-FFF2-40B4-BE49-F238E27FC236}">
                <a16:creationId xmlns:a16="http://schemas.microsoft.com/office/drawing/2014/main" id="{10C8B8C9-4B69-C15A-9B25-85DD2F48AEEF}"/>
              </a:ext>
            </a:extLst>
          </p:cNvPr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E3BBB800-1CA5-E22B-934C-D5FB321F666F}"/>
              </a:ext>
            </a:extLst>
          </p:cNvPr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E8C71E97-D730-07EC-715B-52517F2D821E}"/>
              </a:ext>
            </a:extLst>
          </p:cNvPr>
          <p:cNvSpPr txBox="1"/>
          <p:nvPr/>
        </p:nvSpPr>
        <p:spPr>
          <a:xfrm>
            <a:off x="609599" y="5909090"/>
            <a:ext cx="44505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10B981"/>
                </a:solidFill>
                <a:latin typeface="Consolas" panose="020B0609020204030204" pitchFamily="49" charset="0"/>
              </a:rPr>
              <a:t>Team</a:t>
            </a:r>
          </a:p>
        </p:txBody>
      </p:sp>
      <p:sp>
        <p:nvSpPr>
          <p:cNvPr id="43" name="TextBox 8">
            <a:extLst>
              <a:ext uri="{FF2B5EF4-FFF2-40B4-BE49-F238E27FC236}">
                <a16:creationId xmlns:a16="http://schemas.microsoft.com/office/drawing/2014/main" id="{C4F1653E-29E9-C11B-C194-49FB901908B1}"/>
              </a:ext>
            </a:extLst>
          </p:cNvPr>
          <p:cNvSpPr txBox="1"/>
          <p:nvPr/>
        </p:nvSpPr>
        <p:spPr>
          <a:xfrm>
            <a:off x="609599" y="6118640"/>
            <a:ext cx="186910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5F5F5"/>
                </a:solidFill>
                <a:latin typeface="Consolas" panose="020B0609020204030204" pitchFamily="49" charset="0"/>
              </a:rPr>
              <a:t>Bit Crusher</a:t>
            </a: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3B34B302-5136-6C82-D83F-5180B3611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730" y="5758189"/>
            <a:ext cx="2187670" cy="980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D875CB62D30546B7333748BB1E0C7E" ma:contentTypeVersion="6" ma:contentTypeDescription="Creare un nuovo documento." ma:contentTypeScope="" ma:versionID="f6f0c034a3884a88e9244921c01f1354">
  <xsd:schema xmlns:xsd="http://www.w3.org/2001/XMLSchema" xmlns:xs="http://www.w3.org/2001/XMLSchema" xmlns:p="http://schemas.microsoft.com/office/2006/metadata/properties" xmlns:ns3="1ce2f480-fc24-465d-9e13-d8b5f4576dec" targetNamespace="http://schemas.microsoft.com/office/2006/metadata/properties" ma:root="true" ma:fieldsID="39abafef63a7f5406d44259bfe2ff5f0" ns3:_="">
    <xsd:import namespace="1ce2f480-fc24-465d-9e13-d8b5f4576de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e2f480-fc24-465d-9e13-d8b5f4576de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e2f480-fc24-465d-9e13-d8b5f4576de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157EC8-C243-4925-A491-18D29D3844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e2f480-fc24-465d-9e13-d8b5f4576d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64E0E5-E1E8-4132-A7F5-670E6270F9CA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dcmitype/"/>
    <ds:schemaRef ds:uri="http://purl.org/dc/terms/"/>
    <ds:schemaRef ds:uri="1ce2f480-fc24-465d-9e13-d8b5f4576dec"/>
    <ds:schemaRef ds:uri="http://schemas.microsoft.com/office/infopath/2007/PartnerControls"/>
    <ds:schemaRef ds:uri="http://purl.org/dc/elements/1.1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17C524E-B484-4886-A9FF-7660534CA3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Meeting Bit Crusher</Template>
  <TotalTime>41</TotalTime>
  <Words>158</Words>
  <Application>Microsoft Office PowerPoint</Application>
  <PresentationFormat>Widescreen</PresentationFormat>
  <Paragraphs>38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Aptos</vt:lpstr>
      <vt:lpstr>Consolas</vt:lpstr>
      <vt:lpstr>EB Garamond 08</vt:lpstr>
      <vt:lpstr>Calibri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Antonio Tufano</dc:creator>
  <cp:keywords/>
  <dc:description>generated using python-pptx</dc:description>
  <cp:lastModifiedBy>Antonio Tufano</cp:lastModifiedBy>
  <cp:revision>1</cp:revision>
  <dcterms:created xsi:type="dcterms:W3CDTF">2026-10-24T16:19:04Z</dcterms:created>
  <dcterms:modified xsi:type="dcterms:W3CDTF">2026-10-24T17:53:45Z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0x01010016D875CB62D30546B7333748BB1E0C7E</vt:lpwstr>
  </property>
</Properties>
</file>